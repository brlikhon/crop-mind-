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6e0425e3644e21" /><Relationship Type="http://schemas.openxmlformats.org/officeDocument/2006/relationships/extended-properties" Target="/docProps/app.xml" Id="Rc5ee90c5e6a34c97" /><Relationship Type="http://schemas.openxmlformats.org/officeDocument/2006/relationships/officeDocument" Target="/ppt/presentation.xml" Id="R02d2f070da1e40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7b68402e2b4037"/>
  </p:sldMasterIdLst>
  <p:notesMasterIdLst>
    <p:notesMasterId xmlns:r="http://schemas.openxmlformats.org/officeDocument/2006/relationships" r:id="R0516ef5165674f04"/>
  </p:notesMasterIdLst>
  <p:sldIdLst>
    <p:sldId xmlns:r="http://schemas.openxmlformats.org/officeDocument/2006/relationships" id="256" r:id="R33b18f310a5d478a"/>
    <p:sldId xmlns:r="http://schemas.openxmlformats.org/officeDocument/2006/relationships" id="257" r:id="R8d96dff6ae4e4648"/>
    <p:sldId xmlns:r="http://schemas.openxmlformats.org/officeDocument/2006/relationships" id="258" r:id="R4bf5d7f39e874903"/>
    <p:sldId xmlns:r="http://schemas.openxmlformats.org/officeDocument/2006/relationships" id="259" r:id="R81775d2291d5406d"/>
    <p:sldId xmlns:r="http://schemas.openxmlformats.org/officeDocument/2006/relationships" id="260" r:id="R178985019edd4c26"/>
    <p:sldId xmlns:r="http://schemas.openxmlformats.org/officeDocument/2006/relationships" id="261" r:id="R68efe2cfd9b341f2"/>
    <p:sldId xmlns:r="http://schemas.openxmlformats.org/officeDocument/2006/relationships" id="262" r:id="R71b59949e92a4c53"/>
    <p:sldId xmlns:r="http://schemas.openxmlformats.org/officeDocument/2006/relationships" id="263" r:id="Rf64292b983364cab"/>
    <p:sldId xmlns:r="http://schemas.openxmlformats.org/officeDocument/2006/relationships" id="264" r:id="R91bbc131ba334223"/>
    <p:sldId xmlns:r="http://schemas.openxmlformats.org/officeDocument/2006/relationships" id="265" r:id="Ra32961c9e62e4c9e"/>
    <p:sldId xmlns:r="http://schemas.openxmlformats.org/officeDocument/2006/relationships" id="266" r:id="Rbc91ea300565410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b68402e2b4037" /><Relationship Type="http://schemas.openxmlformats.org/officeDocument/2006/relationships/theme" Target="/ppt/theme/theme1.xml" Id="R8d8ae3bf148c49e0" /><Relationship Type="http://schemas.openxmlformats.org/officeDocument/2006/relationships/notesMaster" Target="/ppt/notesMasters/notesMaster1.xml" Id="R0516ef5165674f04" /><Relationship Type="http://schemas.openxmlformats.org/officeDocument/2006/relationships/presProps" Target="/ppt/presProps.xml" Id="Ra87c6498f4534337" /><Relationship Type="http://schemas.openxmlformats.org/officeDocument/2006/relationships/viewProps" Target="/ppt/viewProps.xml" Id="Rf46914317f174029" /><Relationship Type="http://schemas.openxmlformats.org/officeDocument/2006/relationships/tableStyles" Target="/ppt/tableStyles.xml" Id="Rf919c0d81c9d4c96" /><Relationship Type="http://schemas.openxmlformats.org/officeDocument/2006/relationships/slide" Target="/ppt/slides/slide1.xml" Id="R33b18f310a5d478a" /><Relationship Type="http://schemas.openxmlformats.org/officeDocument/2006/relationships/slide" Target="/ppt/slides/slide2.xml" Id="R8d96dff6ae4e4648" /><Relationship Type="http://schemas.openxmlformats.org/officeDocument/2006/relationships/slide" Target="/ppt/slides/slide3.xml" Id="R4bf5d7f39e874903" /><Relationship Type="http://schemas.openxmlformats.org/officeDocument/2006/relationships/slide" Target="/ppt/slides/slide4.xml" Id="R81775d2291d5406d" /><Relationship Type="http://schemas.openxmlformats.org/officeDocument/2006/relationships/slide" Target="/ppt/slides/slide5.xml" Id="R178985019edd4c26" /><Relationship Type="http://schemas.openxmlformats.org/officeDocument/2006/relationships/slide" Target="/ppt/slides/slide6.xml" Id="R68efe2cfd9b341f2" /><Relationship Type="http://schemas.openxmlformats.org/officeDocument/2006/relationships/slide" Target="/ppt/slides/slide7.xml" Id="R71b59949e92a4c53" /><Relationship Type="http://schemas.openxmlformats.org/officeDocument/2006/relationships/slide" Target="/ppt/slides/slide8.xml" Id="Rf64292b983364cab" /><Relationship Type="http://schemas.openxmlformats.org/officeDocument/2006/relationships/slide" Target="/ppt/slides/slide9.xml" Id="R91bbc131ba334223" /><Relationship Type="http://schemas.openxmlformats.org/officeDocument/2006/relationships/slide" Target="/ppt/slides/slide10.xml" Id="Ra32961c9e62e4c9e" /><Relationship Type="http://schemas.openxmlformats.org/officeDocument/2006/relationships/slide" Target="/ppt/slides/slide11.xml" Id="Rbc91ea30056541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bbdbd7388d64e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5ad6eb7b1c4b00" /><Relationship Type="http://schemas.openxmlformats.org/officeDocument/2006/relationships/notesMaster" Target="/ppt/notesMasters/notesMaster1.xml" Id="Rd2a15b33d0db46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b260f5e5e64830" /><Relationship Type="http://schemas.openxmlformats.org/officeDocument/2006/relationships/notesMaster" Target="/ppt/notesMasters/notesMaster1.xml" Id="Rc6f53a91c0ee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4c60ec1354e8f" /><Relationship Type="http://schemas.openxmlformats.org/officeDocument/2006/relationships/notesMaster" Target="/ppt/notesMasters/notesMaster1.xml" Id="Rb8d3488b75364f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253d7be7864888" /><Relationship Type="http://schemas.openxmlformats.org/officeDocument/2006/relationships/notesMaster" Target="/ppt/notesMasters/notesMaster1.xml" Id="Rfa2da4eb0a944f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dc5e1690fd473c" /><Relationship Type="http://schemas.openxmlformats.org/officeDocument/2006/relationships/notesMaster" Target="/ppt/notesMasters/notesMaster1.xml" Id="R13a361f5ac564f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9710b28ebc4fb0" /><Relationship Type="http://schemas.openxmlformats.org/officeDocument/2006/relationships/notesMaster" Target="/ppt/notesMasters/notesMaster1.xml" Id="Rb99889cdd0924f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3b992d108e4db8" /><Relationship Type="http://schemas.openxmlformats.org/officeDocument/2006/relationships/notesMaster" Target="/ppt/notesMasters/notesMaster1.xml" Id="R9b1b5fc15f7f4c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efb7c06b1f44a4" /><Relationship Type="http://schemas.openxmlformats.org/officeDocument/2006/relationships/notesMaster" Target="/ppt/notesMasters/notesMaster1.xml" Id="Rf5e98becccda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3001224e0449e3" /><Relationship Type="http://schemas.openxmlformats.org/officeDocument/2006/relationships/notesMaster" Target="/ppt/notesMasters/notesMaster1.xml" Id="Re03752b47aa74f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851df8782746dc" /><Relationship Type="http://schemas.openxmlformats.org/officeDocument/2006/relationships/notesMaster" Target="/ppt/notesMasters/notesMaster1.xml" Id="R26797669868d46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678afa712149ce" /><Relationship Type="http://schemas.openxmlformats.org/officeDocument/2006/relationships/notesMaster" Target="/ppt/notesMasters/notesMaster1.xml" Id="R53536c601f434a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764916336410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f1f4c26e4744656" /><Relationship Type="http://schemas.openxmlformats.org/officeDocument/2006/relationships/slideLayout" Target="/ppt/slideLayouts/slideLayout2.xml" Id="Ra858a7c14902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8a7c14902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837cc16f2249a9" /><Relationship Type="http://schemas.openxmlformats.org/officeDocument/2006/relationships/notesSlide" Target="/ppt/notesSlides/notesSlide1.xml" Id="Rf35b22d33b9645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8a8110d1a47b9" /><Relationship Type="http://schemas.openxmlformats.org/officeDocument/2006/relationships/notesSlide" Target="/ppt/notesSlides/notesSlide2.xml" Id="R45420229eb904c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abaa1ca10f4689" /><Relationship Type="http://schemas.openxmlformats.org/officeDocument/2006/relationships/notesSlide" Target="/ppt/notesSlides/notesSlide3.xml" Id="Rf5b8ba4dde0448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a129e28ea48c4" /><Relationship Type="http://schemas.openxmlformats.org/officeDocument/2006/relationships/notesSlide" Target="/ppt/notesSlides/notesSlide4.xml" Id="R7a9e49da93e141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1e576c30f4c3b" /><Relationship Type="http://schemas.openxmlformats.org/officeDocument/2006/relationships/notesSlide" Target="/ppt/notesSlides/notesSlide5.xml" Id="R65d0edd6055147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a0f268cdd42bc" /><Relationship Type="http://schemas.openxmlformats.org/officeDocument/2006/relationships/chart" Target="/ppt/slides/charts/chart1.xml" Id="R2600692e3fe84f26" /><Relationship Type="http://schemas.openxmlformats.org/officeDocument/2006/relationships/notesSlide" Target="/ppt/notesSlides/notesSlide6.xml" Id="R28f68dd560f545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e0a8902bcc4825" /><Relationship Type="http://schemas.openxmlformats.org/officeDocument/2006/relationships/notesSlide" Target="/ppt/notesSlides/notesSlide7.xml" Id="R16b1cb897f0349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d4dadc63b8446a" /><Relationship Type="http://schemas.openxmlformats.org/officeDocument/2006/relationships/notesSlide" Target="/ppt/notesSlides/notesSlide8.xml" Id="R4ecc67f875a34e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de5f085a8f4d9b" /><Relationship Type="http://schemas.openxmlformats.org/officeDocument/2006/relationships/notesSlide" Target="/ppt/notesSlides/notesSlide9.xml" Id="R75439efff6114e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c88c2067ee4231" /><Relationship Type="http://schemas.openxmlformats.org/officeDocument/2006/relationships/notesSlide" Target="/ppt/notesSlides/notesSlide10.xml" Id="R9e002f3c32c640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57a5ee4be44311" /><Relationship Type="http://schemas.openxmlformats.org/officeDocument/2006/relationships/notesSlide" Target="/ppt/notesSlides/notesSlide11.xml" Id="Rd340cebb50274514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Count</c:v>
          </c:tx>
          <c:cat>
            <c:strLit>
              <c:ptCount val="4"/>
              <c:pt idx="0">
                <c:v>Alerts</c:v>
              </c:pt>
              <c:pt idx="1">
                <c:v>Markets</c:v>
              </c:pt>
              <c:pt idx="2">
                <c:v>Subsidies</c:v>
              </c:pt>
              <c:pt idx="3">
                <c:v>Crops</c:v>
              </c:pt>
            </c:strLit>
          </c:cat>
          <c:val>
            <c:numLit>
              <c:formatCode/>
              <c:ptCount val="4"/>
              <c:pt idx="0">
                <c:v>34</c:v>
              </c:pt>
              <c:pt idx="1">
                <c:v>115</c:v>
              </c:pt>
              <c:pt idx="2">
                <c:v>13</c:v>
              </c:pt>
              <c:pt idx="3">
                <c:v>15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61CA204-A5F0-4B1F-9DB0-3D46C59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D455D-0691-413D-997F-9763558E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DFAA7-2877-488B-8B43-6C5FCEA8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48050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Google Cloud Gen AI Academy APAC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B9189-6AE6-4262-825B-1EB35C34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83629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 i="0">
                <a:solidFill>
                  <a:srgbClr val="123026"/>
                </a:solidFill>
              </a:defRPr>
            </a:pPr>
            <a:r>
              <a:rPr sz="8400" b="1" i="0">
                <a:solidFill>
                  <a:srgbClr val="123026"/>
                </a:solidFill>
              </a:rPr>
              <a:t>CropMind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82F9F-3203-4AAC-8449-4CFCD80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6667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5C746A"/>
                </a:solidFill>
              </a:defRPr>
            </a:pPr>
            <a:r>
              <a:rPr sz="2325" b="0" i="0">
                <a:solidFill>
                  <a:srgbClr val="5C746A"/>
                </a:solidFill>
              </a:rPr>
              <a:t>From one farmer's symptom report to safer field action, regional intelligence, and measurable APAC impact.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1EDB-958D-4E4D-97E2-6F30ABBD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85800"/>
            <a:ext cx="7543800" cy="891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1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7FE48-0F9D-47EE-8819-A6BC8842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200150"/>
            <a:ext cx="65341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 i="0">
                <a:solidFill>
                  <a:srgbClr val="B7E36A"/>
                </a:solidFill>
              </a:defRPr>
            </a:pPr>
            <a:r>
              <a:rPr sz="8400" b="1" i="0">
                <a:solidFill>
                  <a:srgbClr val="B7E36A"/>
                </a:solidFill>
              </a:rPr>
              <a:t>621,826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B69BF-8C4C-426D-A522-264D5304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90800"/>
            <a:ext cx="5829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D6E8DE"/>
                </a:solidFill>
              </a:defRPr>
            </a:pPr>
            <a:r>
              <a:rPr sz="1875" b="0" i="0">
                <a:solidFill>
                  <a:srgbClr val="D6E8DE"/>
                </a:solidFill>
              </a:rPr>
              <a:t>hectares in active alert zones in the embedded APAC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1C6C9-4C45-4889-81B9-FAF25DBA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29350"/>
            <a:ext cx="316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B7E36A"/>
                </a:solidFill>
              </a:defRPr>
            </a:pPr>
            <a:r>
              <a:rPr sz="3750" b="1" i="0">
                <a:solidFill>
                  <a:srgbClr val="B7E36A"/>
                </a:solidFill>
              </a:rPr>
              <a:t>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6CAA3-B6B7-4752-A572-D64DDD1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8770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active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0B388-3FD5-440B-8F17-0633BD14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181850"/>
            <a:ext cx="1676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including 13 critical threats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E0581-579E-4C72-B6E3-0DA64268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6229350"/>
            <a:ext cx="316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B7E36A"/>
                </a:solidFill>
              </a:defRPr>
            </a:pPr>
            <a:r>
              <a:rPr sz="3750" b="1" i="0">
                <a:solidFill>
                  <a:srgbClr val="B7E36A"/>
                </a:solidFill>
              </a:rPr>
              <a:t>115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E91AC-872E-417D-BC07-758A91DC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68770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market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A5E53-8C96-4A66-8CE6-A65100F1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7181850"/>
            <a:ext cx="1924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prices used for business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E7E93-E50D-4535-B55F-7435730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772400"/>
            <a:ext cx="316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B7E36A"/>
                </a:solidFill>
              </a:defRPr>
            </a:pPr>
            <a:r>
              <a:rPr sz="3750" b="1" i="0">
                <a:solidFill>
                  <a:srgbClr val="B7E36A"/>
                </a:solidFill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42B73-7687-46E5-A0C5-06770FAD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4201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crop 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9B762-A27B-4F0A-8E45-90D9A759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724900"/>
            <a:ext cx="2114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across disease and 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9C2FB-E6BA-44D3-8FDE-24ED8AC9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7772400"/>
            <a:ext cx="316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B7E36A"/>
                </a:solidFill>
              </a:defRPr>
            </a:pPr>
            <a:r>
              <a:rPr sz="3750" b="1" i="0">
                <a:solidFill>
                  <a:srgbClr val="B7E36A"/>
                </a:solidFill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38549-2E0F-4924-AFAB-5ED647E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842010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support programs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FFBF0-4A86-470E-8B6C-6E94906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87249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active subsidy paths surfaced</a:t>
            </a:r>
          </a:p>
        </p:txBody>
      </p:sp>
    </p:spTree>
    <p:extLst>
      <p:ext uri="{BB962C8B-B14F-4D97-AF65-F5344CB8AC3E}">
        <p14:creationId xmlns:p14="http://schemas.microsoft.com/office/powerpoint/2010/main" val="3429102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B571A27-0CFE-428B-9227-0935E51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066C4-32BD-4616-9C4F-90B1B9A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01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D1091-9249-407B-A3BD-CF5FBCD0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04850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01 /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1D955-AB22-450D-9F3C-2F8DA1F0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"/>
            <a:ext cx="11544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Agricultural advice breaks at the exact moment speed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12620-B795-4E1E-8BE5-440AA6A1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0458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Smallholders need safe treatment guidance, while officers need regional signal from many scattered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83B41-3FE8-497B-A2E4-3F745E7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152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F3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8D0DA-5089-480E-8C21-302C257C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67050"/>
            <a:ext cx="9544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23026"/>
                </a:solidFill>
              </a:defRPr>
            </a:pPr>
            <a:r>
              <a:rPr sz="2550" b="1" i="0">
                <a:solidFill>
                  <a:srgbClr val="123026"/>
                </a:solidFill>
              </a:rPr>
              <a:t>Delayed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516F5-1231-4090-BCDA-A370670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668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746A"/>
                </a:solidFill>
              </a:defRPr>
            </a:pPr>
            <a:r>
              <a:rPr sz="1650" b="0" i="0">
                <a:solidFill>
                  <a:srgbClr val="5C746A"/>
                </a:solidFill>
              </a:rPr>
              <a:t>Symptoms arrive in local language, images, and partial farmer context. Generic chatbots miss agronomy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35AAF-F479-469D-90F3-68718C3C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72000"/>
            <a:ext cx="152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16CE5-DC4F-4FBF-9BB6-BF366D2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9544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23026"/>
                </a:solidFill>
              </a:defRPr>
            </a:pPr>
            <a:r>
              <a:rPr sz="2550" b="1" i="0">
                <a:solidFill>
                  <a:srgbClr val="123026"/>
                </a:solidFill>
              </a:rPr>
              <a:t>Unsafe treatment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6843D-941D-4E23-AEC6-9C223D0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29200"/>
            <a:ext cx="6781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746A"/>
                </a:solidFill>
              </a:defRPr>
            </a:pPr>
            <a:r>
              <a:rPr sz="1650" b="0" i="0">
                <a:solidFill>
                  <a:srgbClr val="5C746A"/>
                </a:solidFill>
              </a:rPr>
              <a:t>Advice must include timing, PPE, label approval, and escalation when a high-risk disease or chemical is involved.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83FCC-811B-4A40-AA82-B72E10FA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96000"/>
            <a:ext cx="152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965C4-5CC0-40B7-9B3E-DC8E3EEC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076950"/>
            <a:ext cx="9544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23026"/>
                </a:solidFill>
              </a:defRPr>
            </a:pPr>
            <a:r>
              <a:rPr sz="2550" b="1" i="0">
                <a:solidFill>
                  <a:srgbClr val="123026"/>
                </a:solidFill>
              </a:rPr>
              <a:t>No regional operating picture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ADCC9-3C86-474B-95FE-65AD170E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534150"/>
            <a:ext cx="6705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746A"/>
                </a:solidFill>
              </a:defRPr>
            </a:pPr>
            <a:r>
              <a:rPr sz="1650" b="0" i="0">
                <a:solidFill>
                  <a:srgbClr val="5C746A"/>
                </a:solidFill>
              </a:rPr>
              <a:t>Governments, co-ops, insurers, and NGOs need a field queue, not only isolated farmer answers.</a:t>
            </a:r>
          </a:p>
        </p:txBody>
      </p:sp>
    </p:spTree>
    <p:extLst>
      <p:ext uri="{BB962C8B-B14F-4D97-AF65-F5344CB8AC3E}">
        <p14:creationId xmlns:p14="http://schemas.microsoft.com/office/powerpoint/2010/main" val="12437365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81D08A-6486-41CD-B810-8415E170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B9D8B-EF8D-4592-A041-38A98B3F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F176D-B7EB-417D-A29C-B6DF44A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914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02 /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A2D5B-E6BD-47A0-BC47-C18695B3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1163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One workflow connects farmer advice to field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745DB-BC28-4FCE-AFDD-9EE7D2D1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382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CropMind uses specialized Gen AI agents, grounded tools, and outcome learning to serve both smallholders and agricultural institutions.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CAACE-DC63-491E-87C3-0882B22E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3943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F7A55"/>
                </a:solidFill>
              </a:defRPr>
            </a:pPr>
            <a:r>
              <a:rPr sz="5700" b="1" i="0">
                <a:solidFill>
                  <a:srgbClr val="0F7A5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05BF9-B5B8-4D62-AC57-DDCD171B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9400"/>
            <a:ext cx="3943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23026"/>
                </a:solidFill>
              </a:defRPr>
            </a:pPr>
            <a:r>
              <a:rPr sz="2400" b="1" i="0">
                <a:solidFill>
                  <a:srgbClr val="123026"/>
                </a:solidFill>
              </a:rPr>
              <a:t>Farmer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CC45C-3241-4BFD-AD14-50D38935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81850"/>
            <a:ext cx="3028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746A"/>
                </a:solidFill>
              </a:defRPr>
            </a:pPr>
            <a:r>
              <a:rPr sz="1650" b="0" i="0">
                <a:solidFill>
                  <a:srgbClr val="5C746A"/>
                </a:solidFill>
              </a:rPr>
              <a:t>Voice, photo, and natural-language symptoms in the farmer's preferred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00CA6-05E3-40E1-8BA2-BB8284D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00700"/>
            <a:ext cx="3943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E8A8A"/>
                </a:solidFill>
              </a:defRPr>
            </a:pPr>
            <a:r>
              <a:rPr sz="5700" b="1" i="0">
                <a:solidFill>
                  <a:srgbClr val="0E8A8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7C4D7-4D22-4704-A43A-390432C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629400"/>
            <a:ext cx="3943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23026"/>
                </a:solidFill>
              </a:defRPr>
            </a:pPr>
            <a:r>
              <a:rPr sz="2400" b="1" i="0">
                <a:solidFill>
                  <a:srgbClr val="123026"/>
                </a:solidFill>
              </a:rPr>
              <a:t>Agent reasoning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2532D-E68A-44D2-80D9-ED98E4D1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181850"/>
            <a:ext cx="30670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746A"/>
                </a:solidFill>
              </a:defRPr>
            </a:pPr>
            <a:r>
              <a:rPr sz="1650" b="0" i="0">
                <a:solidFill>
                  <a:srgbClr val="5C746A"/>
                </a:solidFill>
              </a:rPr>
              <a:t>Disease, weather, market, and treatment agents produce traceable findings.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1DC58-0A95-47EE-A05A-3EE9E3A0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00700"/>
            <a:ext cx="3943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D9A441"/>
                </a:solidFill>
              </a:defRPr>
            </a:pPr>
            <a:r>
              <a:rPr sz="5700" b="1" i="0">
                <a:solidFill>
                  <a:srgbClr val="D9A441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71428-8D6F-4567-8F9F-C6AB333D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629400"/>
            <a:ext cx="3943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23026"/>
                </a:solidFill>
              </a:defRPr>
            </a:pPr>
            <a:r>
              <a:rPr sz="2400" b="1" i="0">
                <a:solidFill>
                  <a:srgbClr val="123026"/>
                </a:solidFill>
              </a:rPr>
              <a:t>Action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03CCF-BAB9-414F-9B15-3E0C6B9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181850"/>
            <a:ext cx="29337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746A"/>
                </a:solidFill>
              </a:defRPr>
            </a:pPr>
            <a:r>
              <a:rPr sz="1650" b="0" i="0">
                <a:solidFill>
                  <a:srgbClr val="5C746A"/>
                </a:solidFill>
              </a:rPr>
              <a:t>Immediate steps, safety warnings, prevention, recovery timeline, and follow-up capture.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ADF0C-1B34-41B4-99B6-9AE1FE6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600700"/>
            <a:ext cx="39433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D56F3E"/>
                </a:solidFill>
              </a:defRPr>
            </a:pPr>
            <a:r>
              <a:rPr sz="5700" b="1" i="0">
                <a:solidFill>
                  <a:srgbClr val="D56F3E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4DA2C-2231-4F35-B978-00BADF79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629400"/>
            <a:ext cx="3943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23026"/>
                </a:solidFill>
              </a:defRPr>
            </a:pPr>
            <a:r>
              <a:rPr sz="2400" b="1" i="0">
                <a:solidFill>
                  <a:srgbClr val="123026"/>
                </a:solidFill>
              </a:rPr>
              <a:t>Officer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8513A-F2C1-4B96-9C89-A2280C1F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181850"/>
            <a:ext cx="33528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C746A"/>
                </a:solidFill>
              </a:defRPr>
            </a:pPr>
            <a:r>
              <a:rPr sz="1650" b="0" i="0">
                <a:solidFill>
                  <a:srgbClr val="5C746A"/>
                </a:solidFill>
              </a:rPr>
              <a:t>Regional risk scoring, subsidy matching, market pressure, and exportable field queues.</a:t>
            </a:r>
          </a:p>
        </p:txBody>
      </p:sp>
    </p:spTree>
    <p:extLst>
      <p:ext uri="{BB962C8B-B14F-4D97-AF65-F5344CB8AC3E}">
        <p14:creationId xmlns:p14="http://schemas.microsoft.com/office/powerpoint/2010/main" val="10410264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4B7B633-F446-41E8-B9B7-383BBDD2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265FE-64E9-47FF-B0B3-B584CE6C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012A0-20C7-4CC0-9937-8FC27F3F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03 / Farmer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F7B50-8FAF-4DA2-92AB-E0CD4777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11106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The farmer screen is built for real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451BE-A551-4DB2-AF7F-87B5A2F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36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Sprint 1 and 2 turn diagnosis into a safe action plan that works in low-bandwidth, multilingual field settings.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7DFFC-171A-4912-8789-FB3DAF6A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943" y="2352675"/>
            <a:ext cx="1069658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F35E0-7B25-480A-8BDA-33DD828A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7A55"/>
                </a:solidFill>
              </a:defRPr>
            </a:pPr>
            <a:r>
              <a:rPr sz="1200" b="1" i="0">
                <a:solidFill>
                  <a:srgbClr val="0F7A55"/>
                </a:solidFill>
              </a:rPr>
              <a:t>Multilingual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B6315-2C91-4DFB-8453-758A81A6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52675"/>
            <a:ext cx="647700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5407D-07B5-4750-AB4A-06C14A71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384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7A55"/>
                </a:solidFill>
              </a:defRPr>
            </a:pPr>
            <a:r>
              <a:rPr sz="1200" b="1" i="0">
                <a:solidFill>
                  <a:srgbClr val="0F7A55"/>
                </a:solidFill>
              </a:rPr>
              <a:t>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A09A5-32D2-4061-A3BA-B08BD748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2675"/>
            <a:ext cx="1309306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87CE3-D4CB-422C-A0C7-1415FF9F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38400"/>
            <a:ext cx="100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7A55"/>
                </a:solidFill>
              </a:defRPr>
            </a:pPr>
            <a:r>
              <a:rPr sz="1200" b="1" i="0">
                <a:solidFill>
                  <a:srgbClr val="0F7A55"/>
                </a:solidFill>
              </a:rPr>
              <a:t>Low-data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1A1ED-4858-45EE-9983-6C10B69A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4956" y="2352675"/>
            <a:ext cx="932783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2914A-198E-4569-8833-3CF2A95E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438400"/>
            <a:ext cx="62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7A55"/>
                </a:solidFill>
              </a:defRPr>
            </a:pPr>
            <a:r>
              <a:rPr sz="1200" b="1" i="0">
                <a:solidFill>
                  <a:srgbClr val="0F7A55"/>
                </a:solidFill>
              </a:rPr>
              <a:t>Follow-up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3BDE1-DDF2-436F-8E31-83E37BD1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8724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F7A55"/>
                </a:solidFill>
              </a:defRPr>
            </a:pPr>
            <a:r>
              <a:rPr sz="3450" b="1" i="0">
                <a:solidFill>
                  <a:srgbClr val="0F7A55"/>
                </a:solidFill>
              </a:rPr>
              <a:t>Farmer Action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06E27-CE3D-465F-A731-F6AC78F4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86200"/>
            <a:ext cx="6705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23026"/>
                </a:solidFill>
              </a:defRPr>
            </a:pPr>
            <a:r>
              <a:rPr sz="2175" b="0" i="0">
                <a:solidFill>
                  <a:srgbClr val="123026"/>
                </a:solidFill>
              </a:rPr>
              <a:t>Do today: isolate symptoms, adjust irrigation, choose locally approved treatment, and check PPE before application.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CADF5-1E2C-4A94-89CA-466CCE66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06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5"/>
          </a:solidFill>
          <a:ln xmlns:a="http://schemas.openxmlformats.org/drawingml/2006/main" w="0">
            <a:solidFill>
              <a:srgbClr val="D8E1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9D5F6-935A-4C7D-AEE5-53A5D8BA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67300"/>
            <a:ext cx="4229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D56F3E"/>
                </a:solidFill>
              </a:defRPr>
            </a:pPr>
            <a:r>
              <a:rPr sz="3750" b="1" i="0">
                <a:solidFill>
                  <a:srgbClr val="D56F3E"/>
                </a:solidFill>
              </a:rPr>
              <a:t>PPE + label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83E48-FAC9-4A14-A1D1-3A0B65A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15000"/>
            <a:ext cx="422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safety warnings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645A1-90F3-4657-8091-77DAFC5B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19800"/>
            <a:ext cx="2400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Treatment agent returns local approval caveats.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DF7C5-B886-4EB5-895D-67B1EC26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067300"/>
            <a:ext cx="4229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E8A8A"/>
                </a:solidFill>
              </a:defRPr>
            </a:pPr>
            <a:r>
              <a:rPr sz="3750" b="1" i="0">
                <a:solidFill>
                  <a:srgbClr val="0E8A8A"/>
                </a:solidFill>
              </a:rPr>
              <a:t>grounded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C3804-12F7-4C15-A872-D20C4F53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715000"/>
            <a:ext cx="422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361CB-BDA6-49DA-8625-7369ACA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019800"/>
            <a:ext cx="2647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Disease and treatment results carry source links.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26F98-C874-4212-8A1E-DE963CC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610350"/>
            <a:ext cx="4229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D9A441"/>
                </a:solidFill>
              </a:defRPr>
            </a:pPr>
            <a:r>
              <a:rPr sz="3750" b="1" i="0">
                <a:solidFill>
                  <a:srgbClr val="D9A441"/>
                </a:solidFill>
              </a:rPr>
              <a:t>weeks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30DC7-12FD-4A51-8C87-04736903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258050"/>
            <a:ext cx="422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timeline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0E5BA-180E-4A8C-B1E7-E6794A85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562850"/>
            <a:ext cx="2457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Recovery window and escalation advice are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6A500-EA56-445C-8C7E-E387A38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610350"/>
            <a:ext cx="4229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F7A55"/>
                </a:solidFill>
              </a:defRPr>
            </a:pPr>
            <a:r>
              <a:rPr sz="3750" b="1" i="0">
                <a:solidFill>
                  <a:srgbClr val="0F7A55"/>
                </a:solidFill>
              </a:rPr>
              <a:t>case follow-up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A88D4-C04C-49E0-90F7-3B6A88C0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7258050"/>
            <a:ext cx="422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learning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E9DEA-422A-41A8-97CD-5E4170E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7562850"/>
            <a:ext cx="2171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Resolved outcomes improve future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407584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EAD469-DAD2-4FA8-A7C5-C5B302D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1FF29-1212-457F-ADEE-B23782DD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50506-45A6-4FFF-980D-8B30E1CA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04 / Officer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6F2F1-284D-496F-8286-CA1FE7E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1430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The officer dashboard turns cases into regional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2DCD4-F4C0-4865-BDAC-34B4864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977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Sprint 3 creates the B2G/B2B layer: intervention queue, risk map, market signal, and subsidy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86554-0263-44C2-977F-EF761DD5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963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23026"/>
                </a:solidFill>
              </a:defRPr>
            </a:pPr>
            <a:r>
              <a:rPr sz="3600" b="1" i="0">
                <a:solidFill>
                  <a:srgbClr val="123026"/>
                </a:solidFill>
              </a:rPr>
              <a:t>Regional Crop Risk Command Center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88A36-14CB-4AEC-837D-7E5DF766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310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F7A55"/>
                </a:solidFill>
              </a:defRPr>
            </a:pPr>
            <a:r>
              <a:rPr sz="3750" b="1" i="0">
                <a:solidFill>
                  <a:srgbClr val="0F7A55"/>
                </a:solidFill>
              </a:rPr>
              <a:t>0-100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6573D-A5EE-4D52-B7ED-D3D39A11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94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risk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BF473-B3DE-4802-A1C3-09A2CC0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9342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Severity, area, and crop spread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7C895-82C9-4D81-99A8-37F0A1A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981700"/>
            <a:ext cx="310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D56F3E"/>
                </a:solidFill>
              </a:defRPr>
            </a:pPr>
            <a:r>
              <a:rPr sz="3750" b="1" i="0">
                <a:solidFill>
                  <a:srgbClr val="D56F3E"/>
                </a:solidFill>
              </a:rPr>
              <a:t>top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6FDCE-0231-4F25-9102-8E8270A3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6294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field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4146F-6A0A-42E5-89F1-628D343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93420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Ranked export for field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8B990-FE74-4BAB-99F6-F94E9A8A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981700"/>
            <a:ext cx="310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D9A441"/>
                </a:solidFill>
              </a:defRPr>
            </a:pPr>
            <a:r>
              <a:rPr sz="3750" b="1" i="0">
                <a:solidFill>
                  <a:srgbClr val="D9A441"/>
                </a:solidFill>
              </a:rPr>
              <a:t>subsidy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732B4-8E79-4AD7-8699-90762701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6294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support 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E48BC-C49F-4F48-8860-9FBDADA8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934200"/>
            <a:ext cx="2305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Programs linked to crops and country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4A0B5-AE45-42CB-AC13-17C93E33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72350"/>
            <a:ext cx="8343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5C746A"/>
                </a:solidFill>
              </a:defRPr>
            </a:pPr>
            <a:r>
              <a:rPr sz="2025" b="0" i="0">
                <a:solidFill>
                  <a:srgbClr val="5C746A"/>
                </a:solidFill>
              </a:rPr>
              <a:t>Business value: agencies and partners can prioritize scarce field capacity with an evidence-backed queue instead of scattered reports.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C67F6-EDF8-4721-9034-C75605E2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276850"/>
            <a:ext cx="6419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F7A55"/>
                </a:solidFill>
              </a:defRPr>
            </a:pPr>
            <a:r>
              <a:rPr sz="2250" b="1" i="0">
                <a:solidFill>
                  <a:srgbClr val="0F7A55"/>
                </a:solidFill>
              </a:rPr>
              <a:t>What the judge sees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63FB0-DB2E-4A67-8C2E-23FEC66C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791200"/>
            <a:ext cx="641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026"/>
                </a:solidFill>
              </a:defRPr>
            </a:pPr>
            <a:r>
              <a:rPr sz="1875" b="1" i="0">
                <a:solidFill>
                  <a:srgbClr val="123026"/>
                </a:solidFill>
              </a:rPr>
              <a:t>1. Risk by region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0B8A9-8216-427D-A518-4E5D889A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48400"/>
            <a:ext cx="641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026"/>
                </a:solidFill>
              </a:defRPr>
            </a:pPr>
            <a:r>
              <a:rPr sz="1875" b="1" i="0">
                <a:solidFill>
                  <a:srgbClr val="123026"/>
                </a:solidFill>
              </a:rPr>
              <a:t>2. Lead threat and affected hectares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37165-FDA6-48CB-821A-8160DB5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705600"/>
            <a:ext cx="641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026"/>
                </a:solidFill>
              </a:defRPr>
            </a:pPr>
            <a:r>
              <a:rPr sz="1875" b="1" i="0">
                <a:solidFill>
                  <a:srgbClr val="123026"/>
                </a:solidFill>
              </a:rPr>
              <a:t>3. Market pressure by crop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2ACDE-6C53-4863-8A48-71588F99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162800"/>
            <a:ext cx="641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026"/>
                </a:solidFill>
              </a:defRPr>
            </a:pPr>
            <a:r>
              <a:rPr sz="1875" b="1" i="0">
                <a:solidFill>
                  <a:srgbClr val="123026"/>
                </a:solidFill>
              </a:rPr>
              <a:t>4. Eligible support programs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CB262-F660-480C-90CE-5E05C7F2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620000"/>
            <a:ext cx="641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23026"/>
                </a:solidFill>
              </a:defRPr>
            </a:pPr>
            <a:r>
              <a:rPr sz="1875" b="1" i="0">
                <a:solidFill>
                  <a:srgbClr val="123026"/>
                </a:solidFill>
              </a:rPr>
              <a:t>5. Exportable response queue</a:t>
            </a:r>
          </a:p>
        </p:txBody>
      </p:sp>
    </p:spTree>
    <p:extLst>
      <p:ext uri="{BB962C8B-B14F-4D97-AF65-F5344CB8AC3E}">
        <p14:creationId xmlns:p14="http://schemas.microsoft.com/office/powerpoint/2010/main" val="5837086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81352DD-EF70-4160-BD3F-0A8F6518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08961-AE9A-4489-9AE9-891A016D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7532C-A379-47E1-A14A-286C42CA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2700"/>
            <a:ext cx="819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05 /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6E1F9-C726-4270-8C9A-071E937A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8229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Sprint 4 proves the business case.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628FC-D853-4499-9E4E-907C453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439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The impact console models farmer reach, value at risk, preventable loss, buyer segments, and trust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D2489-64F7-44E7-920A-44DCE3EE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67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F7A55"/>
                </a:solidFill>
              </a:defRPr>
            </a:pPr>
            <a:r>
              <a:rPr sz="3750" b="1" i="0">
                <a:solidFill>
                  <a:srgbClr val="0F7A55"/>
                </a:solidFill>
              </a:rPr>
              <a:t>621,826 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6611C-1758-4214-A781-5235A0F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affected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09542-398C-4380-8677-70EA2BBE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771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Embedded active alert zones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98C5E-1F00-43A8-AD1D-871956DA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367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E8A8A"/>
                </a:solidFill>
              </a:defRPr>
            </a:pPr>
            <a:r>
              <a:rPr sz="3750" b="1" i="0">
                <a:solidFill>
                  <a:srgbClr val="0E8A8A"/>
                </a:solidFill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87E46-2897-4377-97DF-931CBF3C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245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countries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C69AE-876F-44E8-AFC7-AB4C886D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293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Alerts, markets, and subsidies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5D1E6-B96C-4D07-B5DF-E7B157B6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00800"/>
            <a:ext cx="367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D9A441"/>
                </a:solidFill>
              </a:defRPr>
            </a:pPr>
            <a:r>
              <a:rPr sz="3750" b="1" i="0">
                <a:solidFill>
                  <a:srgbClr val="D9A441"/>
                </a:solidFill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ADFE6-CA74-4C2B-8E50-A871B1A5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active programs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9C819-EB85-4E8B-A192-134BCBB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53300"/>
            <a:ext cx="1676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Support pathways surfaced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813B6-D86E-49D3-BBAC-EE086B0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00800"/>
            <a:ext cx="367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D56F3E"/>
                </a:solidFill>
              </a:defRPr>
            </a:pPr>
            <a:r>
              <a:rPr sz="3750" b="1" i="0">
                <a:solidFill>
                  <a:srgbClr val="D56F3E"/>
                </a:solidFill>
              </a:rPr>
              <a:t>benefit/cost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B95B2-42B4-4257-804F-F6016198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0485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pilot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9D179-2E07-4D37-8597-98627522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35330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Exportable impact brief</a:t>
            </a:r>
          </a:p>
        </p:txBody>
      </p:sp>
      <p:graphicFrame>
        <p:nvGraphicFramePr>
          <p:cNvPr id="18" name="impact-bar-chart"/>
          <p:cNvGraphicFramePr/>
          <p:nvPr/>
        </p:nvGraphicFramePr>
        <p:xfrm>
          <a:off xmlns:a="http://schemas.openxmlformats.org/drawingml/2006/main" x="9050655" y="666750"/>
          <a:ext xmlns:a="http://schemas.openxmlformats.org/drawingml/2006/main" cx="8361045" cy="895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00692e3fe84f26"/>
          </a:graphicData>
        </a:graphic>
      </p:graphicFrame>
    </p:spTree>
    <p:extLst>
      <p:ext uri="{BB962C8B-B14F-4D97-AF65-F5344CB8AC3E}">
        <p14:creationId xmlns:p14="http://schemas.microsoft.com/office/powerpoint/2010/main" val="20124391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6BA344B-A7F0-4EBC-9D4C-F4CC967D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D2B7A-A5C5-43D8-8C03-FDFD7F3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8AB85-F0AC-46F8-A8BC-3E1829BA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971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06 / Technical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0D55B-0EB8-4CE1-B695-99B73679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14109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The architecture is made for Google Cloud Gen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0F82B-C341-4A1B-8C32-5148692E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93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A modular agent system grounds recommendations in data, sources, and outcome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BBF6C-2B7E-46DD-ABC4-03B5A382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F7A55"/>
                </a:solidFill>
              </a:defRPr>
            </a:pPr>
            <a:r>
              <a:rPr sz="2700" b="1" i="0">
                <a:solidFill>
                  <a:srgbClr val="0F7A55"/>
                </a:solidFill>
              </a:rPr>
              <a:t>Vertex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B9398-4ED1-42BD-962B-BD3575C2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940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C746A"/>
                </a:solidFill>
              </a:defRPr>
            </a:pPr>
            <a:r>
              <a:rPr sz="1575" b="0" i="0">
                <a:solidFill>
                  <a:srgbClr val="5C746A"/>
                </a:solidFill>
              </a:rPr>
              <a:t>Gemini reasoning and synthesis for farmer-facing recommendations.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29A51-9823-45AD-9CBC-6B44E754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579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E8A8A"/>
                </a:solidFill>
              </a:defRPr>
            </a:pPr>
            <a:r>
              <a:rPr sz="2700" b="1" i="0">
                <a:solidFill>
                  <a:srgbClr val="0E8A8A"/>
                </a:solidFill>
              </a:rPr>
              <a:t>ADK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8D88C-BCC8-48DE-B421-0E91D0A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62940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C746A"/>
                </a:solidFill>
              </a:defRPr>
            </a:pPr>
            <a:r>
              <a:rPr sz="1575" b="0" i="0">
                <a:solidFill>
                  <a:srgbClr val="5C746A"/>
                </a:solidFill>
              </a:rPr>
              <a:t>Disease, weather, market, and treatment specialists with traces.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CE254-CD61-480A-AA93-0AFAD313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0579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D9A441"/>
                </a:solidFill>
              </a:defRPr>
            </a:pPr>
            <a:r>
              <a:rPr sz="2700" b="1" i="0">
                <a:solidFill>
                  <a:srgbClr val="D9A441"/>
                </a:solidFill>
              </a:rPr>
              <a:t>MCP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1F1C7-B5AA-4126-8665-6318D91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62940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C746A"/>
                </a:solidFill>
              </a:defRPr>
            </a:pPr>
            <a:r>
              <a:rPr sz="1575" b="0" i="0">
                <a:solidFill>
                  <a:srgbClr val="5C746A"/>
                </a:solidFill>
              </a:rPr>
              <a:t>Weather, crop alerts, market prices, and subsidy registries.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DF7FB-0872-4380-AA94-A8D4211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0579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D56F3E"/>
                </a:solidFill>
              </a:defRPr>
            </a:pPr>
            <a:r>
              <a:rPr sz="2700" b="1" i="0">
                <a:solidFill>
                  <a:srgbClr val="D56F3E"/>
                </a:solidFill>
              </a:rPr>
              <a:t>Grounding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B2797-2A8F-4CC8-9396-3551B380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62940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C746A"/>
                </a:solidFill>
              </a:defRPr>
            </a:pPr>
            <a:r>
              <a:rPr sz="1575" b="0" i="0">
                <a:solidFill>
                  <a:srgbClr val="5C746A"/>
                </a:solidFill>
              </a:rPr>
              <a:t>Google Search sources and safety-aware treatment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9FD08-C546-4E2E-8527-6126C63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60579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F7A55"/>
                </a:solidFill>
              </a:defRPr>
            </a:pPr>
            <a:r>
              <a:rPr sz="2700" b="1" i="0">
                <a:solidFill>
                  <a:srgbClr val="0F7A55"/>
                </a:solidFill>
              </a:rPr>
              <a:t>Case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569B7-B505-4C2C-89EA-92C36306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662940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C746A"/>
                </a:solidFill>
              </a:defRPr>
            </a:pPr>
            <a:r>
              <a:rPr sz="1575" b="0" i="0">
                <a:solidFill>
                  <a:srgbClr val="5C746A"/>
                </a:solidFill>
              </a:rPr>
              <a:t>Follow-up outcomes feed historical case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0400526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3C43EE5-D619-4995-A9DD-4E10BA7C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E029E-9548-4FC2-962A-3F27B93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9B221-C0AE-482B-9BC6-FB4000A8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76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07 /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BD601-5723-4D32-8EC9-5C9AEA87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87249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Trust is designed into the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3AB1E-9092-4DDD-AE2F-D811144D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912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CropMind does not stop at fluent text. It makes safety, evidence, and human escalation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FC6C5-68E4-4945-BA72-D8B377D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5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8A189-8396-4397-92C8-338E00C7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830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23026"/>
                </a:solidFill>
              </a:defRPr>
            </a:pPr>
            <a:r>
              <a:rPr sz="2250" b="1" i="0">
                <a:solidFill>
                  <a:srgbClr val="123026"/>
                </a:solidFill>
              </a:rPr>
              <a:t>Grounded source links for disease and treatment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13216-A487-4B73-B618-D30AAFFC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48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F3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75C23-49D4-43D2-8051-37FFBB42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48200"/>
            <a:ext cx="830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23026"/>
                </a:solidFill>
              </a:defRPr>
            </a:pPr>
            <a:r>
              <a:rPr sz="2250" b="1" i="0">
                <a:solidFill>
                  <a:srgbClr val="123026"/>
                </a:solidFill>
              </a:rPr>
              <a:t>PPE, timing, local label, and escalation warnings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98E8F-FFAB-4CEA-9988-BB35D609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95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0A510-2CFA-4C80-B276-F43E8E3D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95900"/>
            <a:ext cx="830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23026"/>
                </a:solidFill>
              </a:defRPr>
            </a:pPr>
            <a:r>
              <a:rPr sz="2250" b="1" i="0">
                <a:solidFill>
                  <a:srgbClr val="123026"/>
                </a:solidFill>
              </a:rPr>
              <a:t>Follow-up tracker closes the farmer outcome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FB209-294F-4728-9953-360E1C63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43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CD816-6FFE-4901-B3D5-A2454BAF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43600"/>
            <a:ext cx="8305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23026"/>
                </a:solidFill>
              </a:defRPr>
            </a:pPr>
            <a:r>
              <a:rPr sz="2250" b="1" i="0">
                <a:solidFill>
                  <a:srgbClr val="123026"/>
                </a:solidFill>
              </a:rPr>
              <a:t>Officer queue keeps high-risk issues human-supervised</a:t>
            </a:r>
          </a:p>
        </p:txBody>
      </p:sp>
    </p:spTree>
    <p:extLst>
      <p:ext uri="{BB962C8B-B14F-4D97-AF65-F5344CB8AC3E}">
        <p14:creationId xmlns:p14="http://schemas.microsoft.com/office/powerpoint/2010/main" val="21407378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059C47-E830-4531-8654-F473921A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4051-1E97-43C8-B000-900B63DB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22CB-2994-44D7-AFD5-344114FE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08 / Build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DB93A-87AC-4240-BE6D-3BD1F8B2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11734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Five sprints moved CropMind from prototype to submission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30BD0-E852-4A99-8108-03CC7DD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0648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Each sprint adds a judge-visible reason to believe: usefulness, accessibility, operational scale, business viability, and demo clarity.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243C3-C2C5-4BE6-9371-717114E9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162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F7A55"/>
                </a:solidFill>
              </a:defRPr>
            </a:pPr>
            <a:r>
              <a:rPr sz="4800" b="1" i="0">
                <a:solidFill>
                  <a:srgbClr val="0F7A55"/>
                </a:solidFill>
              </a:rPr>
              <a:t>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1EF7A-8C01-4F42-8BEB-F538D433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865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3026"/>
                </a:solidFill>
              </a:defRPr>
            </a:pPr>
            <a:r>
              <a:rPr sz="2025" b="1" i="0">
                <a:solidFill>
                  <a:srgbClr val="123026"/>
                </a:solidFill>
              </a:rPr>
              <a:t>Farmer action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76EE5-998A-4E47-9DED-6319E1F2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746A"/>
                </a:solidFill>
              </a:defRPr>
            </a:pPr>
            <a:r>
              <a:rPr sz="1500" b="0" i="0">
                <a:solidFill>
                  <a:srgbClr val="5C746A"/>
                </a:solidFill>
              </a:rPr>
              <a:t>Safety, cost, timeline, sources,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5A8BC-242C-4052-A9E1-FF92AFA1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95950"/>
            <a:ext cx="3162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E8A8A"/>
                </a:solidFill>
              </a:defRPr>
            </a:pPr>
            <a:r>
              <a:rPr sz="4800" b="1" i="0">
                <a:solidFill>
                  <a:srgbClr val="0E8A8A"/>
                </a:solidFill>
              </a:rPr>
              <a:t>S2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F056E-9D46-4B84-B5B3-C36A722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5722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3026"/>
                </a:solidFill>
              </a:defRPr>
            </a:pPr>
            <a:r>
              <a:rPr sz="2025" b="1" i="0">
                <a:solidFill>
                  <a:srgbClr val="123026"/>
                </a:solidFill>
              </a:rPr>
              <a:t>Access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D9CC9-6058-46FE-B941-54B207E5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02945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746A"/>
                </a:solidFill>
              </a:defRPr>
            </a:pPr>
            <a:r>
              <a:rPr sz="1500" b="0" i="0">
                <a:solidFill>
                  <a:srgbClr val="5C746A"/>
                </a:solidFill>
              </a:rPr>
              <a:t>Multilingual, voice, low-data image upload.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00174-22BC-48FD-9BDE-80CD0716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810250"/>
            <a:ext cx="3162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D9A441"/>
                </a:solidFill>
              </a:defRPr>
            </a:pPr>
            <a:r>
              <a:rPr sz="4800" b="1" i="0">
                <a:solidFill>
                  <a:srgbClr val="D9A441"/>
                </a:solidFill>
              </a:rPr>
              <a:t>S3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FD1D4-6B72-4589-A1BE-9A3807D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865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3026"/>
                </a:solidFill>
              </a:defRPr>
            </a:pPr>
            <a:r>
              <a:rPr sz="2025" b="1" i="0">
                <a:solidFill>
                  <a:srgbClr val="123026"/>
                </a:solidFill>
              </a:rPr>
              <a:t>Officer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2003D-4D92-4C43-B52E-6050DA81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71437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746A"/>
                </a:solidFill>
              </a:defRPr>
            </a:pPr>
            <a:r>
              <a:rPr sz="1500" b="0" i="0">
                <a:solidFill>
                  <a:srgbClr val="5C746A"/>
                </a:solidFill>
              </a:rPr>
              <a:t>Risk map, field queue, market, subsidy.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19563-F799-4D5F-B03D-78777B2A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10250"/>
            <a:ext cx="3162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D56F3E"/>
                </a:solidFill>
              </a:defRPr>
            </a:pPr>
            <a:r>
              <a:rPr sz="4800" b="1" i="0">
                <a:solidFill>
                  <a:srgbClr val="D56F3E"/>
                </a:solidFill>
              </a:rPr>
              <a:t>S4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DC1CD-448E-48F3-989F-7E288DD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6865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3026"/>
                </a:solidFill>
              </a:defRPr>
            </a:pPr>
            <a:r>
              <a:rPr sz="2025" b="1" i="0">
                <a:solidFill>
                  <a:srgbClr val="123026"/>
                </a:solidFill>
              </a:rPr>
              <a:t>Impact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90F61-3CBF-49B0-AB99-F37591E1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1437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746A"/>
                </a:solidFill>
              </a:defRPr>
            </a:pPr>
            <a:r>
              <a:rPr sz="1500" b="0" i="0">
                <a:solidFill>
                  <a:srgbClr val="5C746A"/>
                </a:solidFill>
              </a:rPr>
              <a:t>ROI, buyer use cases, proof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A27E5-A585-4A75-9C5E-0C415D67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5695950"/>
            <a:ext cx="31623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F7A55"/>
                </a:solidFill>
              </a:defRPr>
            </a:pPr>
            <a:r>
              <a:rPr sz="4800" b="1" i="0">
                <a:solidFill>
                  <a:srgbClr val="0F7A55"/>
                </a:solidFill>
              </a:rPr>
              <a:t>S5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F9428-7225-4F40-AE46-1A74AB96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572250"/>
            <a:ext cx="3162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23026"/>
                </a:solidFill>
              </a:defRPr>
            </a:pPr>
            <a:r>
              <a:rPr sz="2025" b="1" i="0">
                <a:solidFill>
                  <a:srgbClr val="123026"/>
                </a:solidFill>
              </a:rPr>
              <a:t>Judge demo room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F6CB7-9C85-4FED-BC24-562A12AA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702945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746A"/>
                </a:solidFill>
              </a:defRPr>
            </a:pPr>
            <a:r>
              <a:rPr sz="1500" b="0" i="0">
                <a:solidFill>
                  <a:srgbClr val="5C746A"/>
                </a:solidFill>
              </a:rPr>
              <a:t>Run of show, sample prompts, export brief.</a:t>
            </a:r>
          </a:p>
        </p:txBody>
      </p:sp>
    </p:spTree>
    <p:extLst>
      <p:ext uri="{BB962C8B-B14F-4D97-AF65-F5344CB8AC3E}">
        <p14:creationId xmlns:p14="http://schemas.microsoft.com/office/powerpoint/2010/main" val="493180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C37B76-9153-4045-9BD8-BFEF885F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E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824C9-218F-4C21-B2FE-B8BFE694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6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97512-E57E-41EA-BD80-B49FF710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A55"/>
                </a:solidFill>
              </a:defRPr>
            </a:pPr>
            <a:r>
              <a:rPr sz="1350" b="1" i="0">
                <a:solidFill>
                  <a:srgbClr val="0F7A55"/>
                </a:solidFill>
              </a:rPr>
              <a:t>09 /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8A585-FC3A-4DD7-906B-4F1764D2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114490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123026"/>
                </a:solidFill>
              </a:defRPr>
            </a:pPr>
            <a:r>
              <a:rPr sz="4650" b="1" i="0">
                <a:solidFill>
                  <a:srgbClr val="123026"/>
                </a:solidFill>
              </a:rPr>
              <a:t>Lead judges through the product, not a feature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94C2C-DD9B-4F89-B4DE-942A5D4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9563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C746A"/>
                </a:solidFill>
              </a:defRPr>
            </a:pPr>
            <a:r>
              <a:rPr sz="1875" b="0" i="0">
                <a:solidFill>
                  <a:srgbClr val="5C746A"/>
                </a:solidFill>
              </a:rPr>
              <a:t>The /demo route gives a five-minute run of show with copyable prompts and the exact proof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C917-CB3E-4ACB-8FFC-7CD5E2C2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9124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F7A55"/>
                </a:solidFill>
              </a:defRPr>
            </a:pPr>
            <a:r>
              <a:rPr sz="2700" b="1" i="0">
                <a:solidFill>
                  <a:srgbClr val="0F7A55"/>
                </a:solidFill>
              </a:rPr>
              <a:t>1. 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A7A6B-5FCC-40F7-BF35-D3F3F7C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9124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E8A8A"/>
                </a:solidFill>
              </a:defRPr>
            </a:pPr>
            <a:r>
              <a:rPr sz="2700" b="1" i="0">
                <a:solidFill>
                  <a:srgbClr val="0E8A8A"/>
                </a:solidFill>
              </a:rPr>
              <a:t>2. Farmer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62940-04B0-46AC-9DA3-D45E9C1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9124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D9A441"/>
                </a:solidFill>
              </a:defRPr>
            </a:pPr>
            <a:r>
              <a:rPr sz="2700" b="1" i="0">
                <a:solidFill>
                  <a:srgbClr val="D9A441"/>
                </a:solidFill>
              </a:rPr>
              <a:t>3. Follow-up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D4974-178E-4D56-BB18-3BD6960D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9124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D56F3E"/>
                </a:solidFill>
              </a:defRPr>
            </a:pPr>
            <a:r>
              <a:rPr sz="2700" b="1" i="0">
                <a:solidFill>
                  <a:srgbClr val="D56F3E"/>
                </a:solidFill>
              </a:rPr>
              <a:t>4. Officer command center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3FFD5-07C4-4862-84D7-63F33A0B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3050"/>
            <a:ext cx="9124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F7A55"/>
                </a:solidFill>
              </a:defRPr>
            </a:pPr>
            <a:r>
              <a:rPr sz="2700" b="1" i="0">
                <a:solidFill>
                  <a:srgbClr val="0F7A55"/>
                </a:solidFill>
              </a:rPr>
              <a:t>5.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A79EB-7B6C-48E1-89FE-615C657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9124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0E8A8A"/>
                </a:solidFill>
              </a:defRPr>
            </a:pPr>
            <a:r>
              <a:rPr sz="2700" b="1" i="0">
                <a:solidFill>
                  <a:srgbClr val="0E8A8A"/>
                </a:solidFill>
              </a:rPr>
              <a:t>6. Pilot 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9D2EB-A2E5-4C63-9008-754AA788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6675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5"/>
          </a:solidFill>
          <a:ln xmlns:a="http://schemas.openxmlformats.org/drawingml/2006/main" w="0">
            <a:solidFill>
              <a:srgbClr val="D8E1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CE1A9-147B-4C92-B6A7-C0913B30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934200"/>
            <a:ext cx="6838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C746A"/>
                </a:solidFill>
              </a:defRPr>
            </a:pPr>
            <a:r>
              <a:rPr sz="2100" b="0" i="0">
                <a:solidFill>
                  <a:srgbClr val="5C746A"/>
                </a:solidFill>
              </a:rPr>
              <a:t>The strongest live path starts at /demo, moves to /impact, then proves the farmer and officer workflows.</a:t>
            </a:r>
          </a:p>
        </p:txBody>
      </p:sp>
    </p:spTree>
    <p:extLst>
      <p:ext uri="{BB962C8B-B14F-4D97-AF65-F5344CB8AC3E}">
        <p14:creationId xmlns:p14="http://schemas.microsoft.com/office/powerpoint/2010/main" val="748625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BE7161-DEF8-42C9-A396-A0A8CD6F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CF93-9CCC-47C0-9A3A-ED3A9666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88011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 i="0">
                <a:solidFill>
                  <a:srgbClr val="123026"/>
                </a:solidFill>
              </a:defRPr>
            </a:pPr>
            <a:r>
              <a:rPr sz="5400" b="1" i="0">
                <a:solidFill>
                  <a:srgbClr val="123026"/>
                </a:solidFill>
              </a:rPr>
              <a:t>CropMind is ready for a district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0940B-E39D-4A40-BBE5-0D4226E7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8743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5C746A"/>
                </a:solidFill>
              </a:defRPr>
            </a:pPr>
            <a:r>
              <a:rPr sz="2250" b="0" i="0">
                <a:solidFill>
                  <a:srgbClr val="5C746A"/>
                </a:solidFill>
              </a:rPr>
              <a:t>The next step is a launch partner with extension officers, co-ops, or insurers to validate treatment speed, outcome capture, and subsidy linkage.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842C0-FC77-4752-B743-B209A22B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81350"/>
            <a:ext cx="7105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F7A55"/>
                </a:solidFill>
              </a:defRPr>
            </a:pPr>
            <a:r>
              <a:rPr sz="3750" b="1" i="0">
                <a:solidFill>
                  <a:srgbClr val="0F7A55"/>
                </a:solidFill>
              </a:rPr>
              <a:t>3 regions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3BF9E-2D20-4E1D-89C5-468B2089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29050"/>
            <a:ext cx="7105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pilot geography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834FA-7F3A-4721-B133-A6C422D0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338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Start where active alerts are highest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7F679-A226-4E46-9E26-F311671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572000"/>
            <a:ext cx="7105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0E8A8A"/>
                </a:solidFill>
              </a:defRPr>
            </a:pPr>
            <a:r>
              <a:rPr sz="3750" b="1" i="0">
                <a:solidFill>
                  <a:srgbClr val="0E8A8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A4F6-7D22-4209-A71E-E425878C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219700"/>
            <a:ext cx="7105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pilot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9C57C-D3A2-4660-94EA-DE5C09B0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524500"/>
            <a:ext cx="1771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Farmer sessions in first week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497CA-8CAA-4507-BC7A-E17B4576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981700"/>
            <a:ext cx="7105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D56F3E"/>
                </a:solidFill>
              </a:defRPr>
            </a:pPr>
            <a:r>
              <a:rPr sz="3750" b="1" i="0">
                <a:solidFill>
                  <a:srgbClr val="D56F3E"/>
                </a:solidFill>
              </a:rPr>
              <a:t>&lt;48h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8C379-B433-4D08-9F78-77EB3BDB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629400"/>
            <a:ext cx="7105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23026"/>
                </a:solidFill>
              </a:defRPr>
            </a:pPr>
            <a:r>
              <a:rPr sz="1500" b="1" i="0">
                <a:solidFill>
                  <a:srgbClr val="123026"/>
                </a:solidFill>
              </a:rPr>
              <a:t>success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9CFB7-A666-41E6-AB88-A7E4AEC9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934200"/>
            <a:ext cx="2266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746A"/>
                </a:solidFill>
              </a:defRPr>
            </a:pPr>
            <a:r>
              <a:rPr sz="1200" b="0" i="0">
                <a:solidFill>
                  <a:srgbClr val="5C746A"/>
                </a:solidFill>
              </a:rPr>
              <a:t>Symptom report to treatment action</a:t>
            </a:r>
          </a:p>
        </p:txBody>
      </p:sp>
    </p:spTree>
    <p:extLst>
      <p:ext uri="{BB962C8B-B14F-4D97-AF65-F5344CB8AC3E}">
        <p14:creationId xmlns:p14="http://schemas.microsoft.com/office/powerpoint/2010/main" val="287776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2026-04-30T17:02:49.3460000Z</dcterms:created>
  <dcterms:modified xsi:type="dcterms:W3CDTF">2026-04-30T17:02:49.3460000Z</dcterms:modified>
</coreProperties>
</file>